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48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731520"/>
            <a:ext cx="71323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0F6FF"/>
                </a:solidFill>
                <a:latin typeface="Aptos Display"/>
              </a:rPr>
              <a:t>AI-Powered Sales Intelligence &amp; Alerting System</a:t>
            </a:r>
            <a:endParaRPr sz="3600" b="1" dirty="0">
              <a:solidFill>
                <a:srgbClr val="F0F6FF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4944" y="2139696"/>
            <a:ext cx="6629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9EAEC5"/>
                </a:solidFill>
                <a:latin typeface="Aptos"/>
              </a:rPr>
              <a:t>Real-time workflow that converts unstructured Telegram sales reports into structured JSON, logged records, and severity-based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352544"/>
            <a:ext cx="1261872" cy="786384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1026" y="4535424"/>
            <a:ext cx="106921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0F6FF"/>
                </a:solidFill>
                <a:latin typeface="Aptos"/>
              </a:rPr>
              <a:t>Telegram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4745736"/>
            <a:ext cx="201168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67128" y="4352544"/>
            <a:ext cx="1170432" cy="786384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99580" y="4535423"/>
            <a:ext cx="1156851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350" b="1" dirty="0" smtClean="0">
                <a:solidFill>
                  <a:srgbClr val="F0F6FF"/>
                </a:solidFill>
                <a:latin typeface="Aptos"/>
              </a:rPr>
              <a:t>  </a:t>
            </a:r>
            <a:r>
              <a:rPr sz="1350" b="1" dirty="0" err="1" smtClean="0">
                <a:solidFill>
                  <a:srgbClr val="F0F6FF"/>
                </a:solidFill>
                <a:latin typeface="Aptos"/>
              </a:rPr>
              <a:t>OpenAI</a:t>
            </a:r>
            <a:endParaRPr sz="1350" b="1" dirty="0">
              <a:solidFill>
                <a:srgbClr val="F0F6FF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355848" y="4745736"/>
            <a:ext cx="201168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84448" y="4352544"/>
            <a:ext cx="1170432" cy="786384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76788" y="4515127"/>
            <a:ext cx="768051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0F6FF"/>
                </a:solidFill>
                <a:latin typeface="Aptos"/>
              </a:rPr>
              <a:t>Sheets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73168" y="4745736"/>
            <a:ext cx="201168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01768" y="4352544"/>
            <a:ext cx="1170432" cy="786384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4613148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535424"/>
            <a:ext cx="84124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0F6FF"/>
                </a:solidFill>
                <a:latin typeface="Aptos"/>
              </a:rPr>
              <a:t>n8n Logic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90488" y="4745736"/>
            <a:ext cx="201168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19088" y="4352544"/>
            <a:ext cx="1170432" cy="786384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613148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4297" y="4535424"/>
            <a:ext cx="770631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0F6FF"/>
                </a:solidFill>
                <a:latin typeface="Aptos"/>
              </a:rPr>
              <a:t>Alerts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804672"/>
            <a:ext cx="2788920" cy="466344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117043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6FF"/>
                </a:solidFill>
                <a:latin typeface="Aptos Display"/>
              </a:rPr>
              <a:t>Implemented With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1737360"/>
            <a:ext cx="21488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t>n8n workflow orchestration</a:t>
            </a:r>
          </a:p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t>OpenAI JSON extraction</a:t>
            </a:r>
          </a:p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t>Telegram API input + response</a:t>
            </a:r>
          </a:p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t>Google Sheets issue log</a:t>
            </a:r>
          </a:p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t>Gmail API escalation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chemeClr val="bg1"/>
                </a:solidFill>
                <a:latin typeface="Aptos"/>
              </a:rPr>
              <a:t>Field reports were fast, but operational visibility was slow.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51663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F0F6FF"/>
                </a:solidFill>
                <a:latin typeface="Aptos Display"/>
              </a:rPr>
              <a:t>Retail issue reporting arrived as informal Telegram text. Critical details were mixed together, hard to standardize, and dependent on manual review before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54480"/>
            <a:ext cx="443484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611112" y="1719072"/>
            <a:ext cx="393192" cy="3931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1508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1737360"/>
            <a:ext cx="3611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Unstructured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2084831"/>
            <a:ext cx="3611879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9EAEC5"/>
                </a:solidFill>
                <a:latin typeface="Aptos"/>
              </a:rPr>
              <a:t>Sales updates were written in natural language, so OUTLET, LOCATION, ISSUE, COMPETITOR, and SEVERITY were inconsistent.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834640"/>
            <a:ext cx="443484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11112" y="2999232"/>
            <a:ext cx="393192" cy="3931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309524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017520"/>
            <a:ext cx="3611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Escalation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3364992"/>
            <a:ext cx="3611879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9EAEC5"/>
                </a:solidFill>
                <a:latin typeface="Aptos"/>
              </a:rPr>
              <a:t>HIGH-priority issues could be missed or delayed when teams had to manually inspect each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114800"/>
            <a:ext cx="443484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11112" y="4279392"/>
            <a:ext cx="393192" cy="3931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437540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4297680"/>
            <a:ext cx="3611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Limited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4645152"/>
            <a:ext cx="3611879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9EAEC5"/>
                </a:solidFill>
                <a:latin typeface="Aptos"/>
              </a:rPr>
              <a:t>No shared, structured log existed for tracking issue status, competitor activity, or recurring outlet problems.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EAEC5"/>
                </a:solidFill>
                <a:latin typeface="Aptos"/>
              </a:rPr>
              <a:t>An AI workflow turns field messages into routed operational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737360" cy="123444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22D3EE"/>
                </a:solidFill>
                <a:latin typeface="Aptos"/>
              </a:rPr>
              <a:t>INPUT</a:t>
            </a:r>
            <a:endParaRPr sz="1100" b="1" dirty="0">
              <a:solidFill>
                <a:srgbClr val="22D3E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2697480"/>
            <a:ext cx="14081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0F6FF"/>
                </a:solidFill>
                <a:latin typeface="Aptos"/>
              </a:rPr>
              <a:t>Telegram captures reports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761488"/>
            <a:ext cx="356616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148840"/>
            <a:ext cx="1737360" cy="123444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235915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34D399"/>
                </a:solidFill>
                <a:latin typeface="Aptos"/>
              </a:rPr>
              <a:t>AI</a:t>
            </a:r>
            <a:endParaRPr sz="1100" b="1" dirty="0">
              <a:solidFill>
                <a:srgbClr val="34D39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4952" y="2697480"/>
            <a:ext cx="14081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0F6FF"/>
                </a:solidFill>
                <a:latin typeface="Aptos"/>
              </a:rPr>
              <a:t>OpenAI extracts JSON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0" y="2761488"/>
            <a:ext cx="356616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148840"/>
            <a:ext cx="1737360" cy="123444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235915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60A5FA"/>
                </a:solidFill>
                <a:latin typeface="Aptos"/>
              </a:rPr>
              <a:t>DATA</a:t>
            </a:r>
            <a:endParaRPr sz="1100" b="1" dirty="0">
              <a:solidFill>
                <a:srgbClr val="60A5F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85232" y="2697480"/>
            <a:ext cx="14081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0F6FF"/>
                </a:solidFill>
                <a:latin typeface="Aptos"/>
              </a:rPr>
              <a:t>Google Sheets stores records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3720" y="2761488"/>
            <a:ext cx="356616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2148840"/>
            <a:ext cx="1737360" cy="123444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235915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FBBF24"/>
                </a:solidFill>
                <a:latin typeface="Aptos"/>
              </a:rPr>
              <a:t>DECIDE</a:t>
            </a:r>
            <a:endParaRPr sz="1100" b="1" dirty="0">
              <a:solidFill>
                <a:srgbClr val="FBBF2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25512" y="2697480"/>
            <a:ext cx="14081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0F6FF"/>
                </a:solidFill>
                <a:latin typeface="Aptos"/>
              </a:rPr>
              <a:t>n8n IF nodes classify severity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2761488"/>
            <a:ext cx="356616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0" y="2148840"/>
            <a:ext cx="1737360" cy="123444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8360" y="2359152"/>
            <a:ext cx="1463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F87171"/>
                </a:solidFill>
                <a:latin typeface="Aptos"/>
              </a:rPr>
              <a:t>OUTPUT</a:t>
            </a:r>
            <a:endParaRPr sz="1100" b="1" dirty="0">
              <a:solidFill>
                <a:srgbClr val="F8717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65792" y="2697480"/>
            <a:ext cx="14081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0F6FF"/>
                </a:solidFill>
                <a:latin typeface="Aptos"/>
              </a:rPr>
              <a:t>Alerts route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5196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9EAEC5"/>
                </a:solidFill>
                <a:latin typeface="Aptos"/>
              </a:defRPr>
            </a:pPr>
            <a:r>
              <a:t>Captures real-time retail issue reports from Telegram</a:t>
            </a:r>
          </a:p>
          <a:p>
            <a:pPr>
              <a:spcAft>
                <a:spcPts val="700"/>
              </a:spcAft>
              <a:defRPr sz="1400">
                <a:solidFill>
                  <a:srgbClr val="9EAEC5"/>
                </a:solidFill>
                <a:latin typeface="Aptos"/>
              </a:defRPr>
            </a:pPr>
            <a:r>
              <a:t>Extracts consistent fields for downstream automation</a:t>
            </a:r>
          </a:p>
          <a:p>
            <a:pPr>
              <a:spcAft>
                <a:spcPts val="700"/>
              </a:spcAft>
              <a:defRPr sz="1400">
                <a:solidFill>
                  <a:srgbClr val="9EAEC5"/>
                </a:solidFill>
                <a:latin typeface="Aptos"/>
              </a:defRPr>
            </a:pPr>
            <a:r>
              <a:t>Logs every record for visibility and auditability</a:t>
            </a:r>
          </a:p>
          <a:p>
            <a:pPr>
              <a:spcAft>
                <a:spcPts val="700"/>
              </a:spcAft>
              <a:defRPr sz="1400">
                <a:solidFill>
                  <a:srgbClr val="9EAEC5"/>
                </a:solidFill>
                <a:latin typeface="Aptos"/>
              </a:defRPr>
            </a:pPr>
            <a:r>
              <a:t>Routes HIGH, MEDIUM, and LOW issues with deterministic IF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EAEC5"/>
                </a:solidFill>
                <a:latin typeface="Aptos"/>
              </a:rPr>
              <a:t>Implemented capabilities across intake, extraction, storage, and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664208"/>
            <a:ext cx="3063240" cy="111556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828800"/>
            <a:ext cx="393192" cy="3931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24812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8470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Real-Time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9456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9EAEC5"/>
                </a:solidFill>
                <a:latin typeface="Aptos"/>
              </a:rPr>
              <a:t>Telegram messages become issue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64208"/>
            <a:ext cx="3063240" cy="111556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26279" y="1828800"/>
            <a:ext cx="393192" cy="3931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79" y="1924812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5" y="18470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AI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9456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9EAEC5"/>
                </a:solidFill>
                <a:latin typeface="Aptos"/>
              </a:rPr>
              <a:t>OpenAI</a:t>
            </a:r>
            <a:r>
              <a:rPr sz="1200" b="0" dirty="0">
                <a:solidFill>
                  <a:srgbClr val="9EAEC5"/>
                </a:solidFill>
                <a:latin typeface="Aptos"/>
              </a:rPr>
              <a:t> returns structured JSON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64208"/>
            <a:ext cx="3063240" cy="111556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1828800"/>
            <a:ext cx="393192" cy="3931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924812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18470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Issue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19456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9EAEC5"/>
                </a:solidFill>
                <a:latin typeface="Aptos"/>
              </a:rPr>
              <a:t>Google Sheets stores every extracted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64408"/>
            <a:ext cx="3063240" cy="111556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59" y="3429000"/>
            <a:ext cx="393192" cy="3931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525012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34472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Severity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379476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9EAEC5"/>
                </a:solidFill>
                <a:latin typeface="Aptos"/>
              </a:rPr>
              <a:t>IF nodes classify HIGH, MEDIUM, and 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264408"/>
            <a:ext cx="3063240" cy="111556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26279" y="3429000"/>
            <a:ext cx="393192" cy="3931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79" y="3525012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5" y="34472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Email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5" y="379476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9EAEC5"/>
                </a:solidFill>
                <a:latin typeface="Aptos"/>
              </a:rPr>
              <a:t>HIGH issues trigger Gmail escalation.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264408"/>
            <a:ext cx="3063240" cy="111556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600" y="3429000"/>
            <a:ext cx="393192" cy="3931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3525012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RESP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3376" y="34472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Telegram Responses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3376" y="379476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9EAEC5"/>
                </a:solidFill>
                <a:latin typeface="Aptos"/>
              </a:rPr>
              <a:t>MEDIUM and LOW cases receive status responses.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EAEC5"/>
                </a:solidFill>
                <a:latin typeface="Aptos"/>
              </a:rPr>
              <a:t>Each tool owns a clear role in the automation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4754880" cy="9144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764792"/>
            <a:ext cx="393192" cy="3931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00252"/>
            <a:ext cx="39319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dirty="0">
                <a:latin typeface="Aptos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7830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30552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Workflow orchestration and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4754880" cy="9144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55079" y="1764792"/>
            <a:ext cx="393192" cy="3931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79" y="186080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855" y="17830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Telegram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5" y="2130552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Message input and response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26080"/>
            <a:ext cx="4754880" cy="9144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59" y="3090672"/>
            <a:ext cx="393192" cy="3931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18668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1089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456432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Structured JSON extraction from natural language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2926080"/>
            <a:ext cx="4754880" cy="9144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55079" y="3090672"/>
            <a:ext cx="393192" cy="3931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79" y="318668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5" y="31089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Google 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5" y="3456432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Centralized issue log and visibility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51960"/>
            <a:ext cx="4754880" cy="9144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59" y="4416552"/>
            <a:ext cx="393192" cy="3931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451256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44348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IF Nodes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4782312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Severity-based decision logic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4251960"/>
            <a:ext cx="4754880" cy="9144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55079" y="4416552"/>
            <a:ext cx="393192" cy="3931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79" y="451256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8855" y="44348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Gmail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855" y="4782312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High-severity email escalation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9EAEC5"/>
                </a:solidFill>
                <a:latin typeface="Aptos"/>
              </a:rPr>
              <a:t>Telegram </a:t>
            </a:r>
            <a:r>
              <a:rPr lang="en-IN" b="1" dirty="0" smtClean="0">
                <a:solidFill>
                  <a:srgbClr val="9EAEC5"/>
                </a:solidFill>
                <a:latin typeface="Aptos"/>
              </a:rPr>
              <a:t>     </a:t>
            </a:r>
            <a:r>
              <a:rPr b="1" dirty="0" err="1" smtClean="0">
                <a:solidFill>
                  <a:srgbClr val="9EAEC5"/>
                </a:solidFill>
                <a:latin typeface="Aptos"/>
              </a:rPr>
              <a:t>OpenAI</a:t>
            </a:r>
            <a:r>
              <a:rPr lang="en-IN" b="1" dirty="0">
                <a:solidFill>
                  <a:srgbClr val="9EAEC5"/>
                </a:solidFill>
                <a:latin typeface="Aptos"/>
              </a:rPr>
              <a:t> </a:t>
            </a:r>
            <a:r>
              <a:rPr lang="en-IN" b="1" dirty="0" smtClean="0">
                <a:solidFill>
                  <a:srgbClr val="9EAEC5"/>
                </a:solidFill>
                <a:latin typeface="Aptos"/>
              </a:rPr>
              <a:t>     </a:t>
            </a:r>
            <a:r>
              <a:rPr b="1" dirty="0" smtClean="0">
                <a:solidFill>
                  <a:srgbClr val="9EAEC5"/>
                </a:solidFill>
                <a:latin typeface="Aptos"/>
              </a:rPr>
              <a:t>Google </a:t>
            </a:r>
            <a:r>
              <a:rPr b="1" dirty="0">
                <a:solidFill>
                  <a:srgbClr val="9EAEC5"/>
                </a:solidFill>
                <a:latin typeface="Aptos"/>
              </a:rPr>
              <a:t>Sheets </a:t>
            </a:r>
            <a:r>
              <a:rPr lang="en-IN" b="1" dirty="0" smtClean="0">
                <a:solidFill>
                  <a:srgbClr val="9EAEC5"/>
                </a:solidFill>
                <a:latin typeface="Aptos"/>
              </a:rPr>
              <a:t>     </a:t>
            </a:r>
            <a:r>
              <a:rPr b="1" dirty="0" smtClean="0">
                <a:solidFill>
                  <a:srgbClr val="9EAEC5"/>
                </a:solidFill>
                <a:latin typeface="Aptos"/>
              </a:rPr>
              <a:t>IF </a:t>
            </a:r>
            <a:r>
              <a:rPr b="1" dirty="0">
                <a:solidFill>
                  <a:srgbClr val="9EAEC5"/>
                </a:solidFill>
                <a:latin typeface="Aptos"/>
              </a:rPr>
              <a:t>Logic </a:t>
            </a:r>
            <a:r>
              <a:rPr lang="en-IN" b="1" dirty="0" smtClean="0">
                <a:solidFill>
                  <a:srgbClr val="9EAEC5"/>
                </a:solidFill>
                <a:latin typeface="Aptos"/>
              </a:rPr>
              <a:t>     </a:t>
            </a:r>
            <a:r>
              <a:rPr b="1" dirty="0" smtClean="0">
                <a:solidFill>
                  <a:srgbClr val="9EAEC5"/>
                </a:solidFill>
                <a:latin typeface="Aptos"/>
              </a:rPr>
              <a:t>Alerts</a:t>
            </a:r>
            <a:endParaRPr b="1" dirty="0">
              <a:solidFill>
                <a:srgbClr val="9EAEC5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01168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392" y="1993392"/>
            <a:ext cx="393192" cy="3931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08940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INPU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116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Telegram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59152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9EAEC5"/>
                </a:solidFill>
                <a:latin typeface="Aptos"/>
              </a:rPr>
              <a:t>Sales issue message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15768" y="2395728"/>
            <a:ext cx="393192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0" y="1828800"/>
            <a:ext cx="201168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64992" y="1993392"/>
            <a:ext cx="393192" cy="3931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64992" y="208940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0116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OpenAI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359152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9EAEC5"/>
                </a:solidFill>
                <a:latin typeface="Aptos"/>
              </a:rPr>
              <a:t>JSON extraction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30368" y="2395728"/>
            <a:ext cx="393192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15000" y="1828800"/>
            <a:ext cx="201168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79592" y="1993392"/>
            <a:ext cx="393192" cy="3931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9592" y="208940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STOR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0116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Google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359152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9EAEC5"/>
                </a:solidFill>
                <a:latin typeface="Aptos"/>
              </a:rPr>
              <a:t>Structured issue log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4968" y="2395728"/>
            <a:ext cx="393192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9600" y="1828800"/>
            <a:ext cx="201168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94192" y="1993392"/>
            <a:ext cx="393192" cy="3931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208940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DECI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0116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0F6FF"/>
                </a:solidFill>
                <a:latin typeface="Aptos"/>
              </a:rPr>
              <a:t>n8n IF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2359152"/>
            <a:ext cx="118872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9EAEC5"/>
                </a:solidFill>
                <a:latin typeface="Aptos"/>
              </a:rPr>
              <a:t>Severity routing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34780" y="557784"/>
            <a:ext cx="2011680" cy="74980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86416" y="7498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F87171"/>
                </a:solidFill>
                <a:latin typeface="Aptos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2448" y="996696"/>
            <a:ext cx="98755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F0F6FF"/>
                </a:solidFill>
                <a:latin typeface="Aptos"/>
              </a:rPr>
              <a:t>Gmail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13264" y="2951158"/>
            <a:ext cx="2011680" cy="74980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87584" y="2977323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FBBF24"/>
                </a:solidFill>
                <a:latin typeface="Aptos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6678" y="3239239"/>
            <a:ext cx="98755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F0F6FF"/>
                </a:solidFill>
                <a:latin typeface="Aptos"/>
              </a:rPr>
              <a:t>Telegram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23060" y="4741119"/>
            <a:ext cx="2011680" cy="749808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4933143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34D399"/>
                </a:solidFill>
                <a:latin typeface="Aptos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5128517"/>
            <a:ext cx="12922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F0F6FF"/>
                </a:solidFill>
                <a:latin typeface="Aptos"/>
              </a:rPr>
              <a:t>Acknowledgement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741889" y="1320176"/>
            <a:ext cx="1124713" cy="420624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11313" y="2286000"/>
            <a:ext cx="1124713" cy="603504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51975" y="3068763"/>
            <a:ext cx="1124713" cy="1627632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06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723191" y="978396"/>
            <a:ext cx="246888" cy="18466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ight Arrow 41"/>
          <p:cNvSpPr/>
          <p:nvPr/>
        </p:nvSpPr>
        <p:spPr>
          <a:xfrm>
            <a:off x="2912364" y="974919"/>
            <a:ext cx="271604" cy="2185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ight Arrow 42"/>
          <p:cNvSpPr/>
          <p:nvPr/>
        </p:nvSpPr>
        <p:spPr>
          <a:xfrm>
            <a:off x="4897743" y="960934"/>
            <a:ext cx="294057" cy="2603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ight Arrow 43"/>
          <p:cNvSpPr/>
          <p:nvPr/>
        </p:nvSpPr>
        <p:spPr>
          <a:xfrm>
            <a:off x="6141508" y="998348"/>
            <a:ext cx="262551" cy="22289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9EAEC5"/>
                </a:solidFill>
                <a:latin typeface="Aptos"/>
              </a:rPr>
              <a:t>A compact view of the production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5669280" cy="530352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20440" y="1673352"/>
            <a:ext cx="512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F0F6FF"/>
                </a:solidFill>
                <a:latin typeface="Aptos"/>
              </a:rPr>
              <a:t>Telegram
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157984"/>
            <a:ext cx="0" cy="246888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2468880"/>
            <a:ext cx="5669280" cy="530352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2542032"/>
            <a:ext cx="512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 err="1">
                <a:solidFill>
                  <a:srgbClr val="F0F6FF"/>
                </a:solidFill>
                <a:latin typeface="Aptos"/>
              </a:rPr>
              <a:t>OpenAI</a:t>
            </a:r>
            <a:r>
              <a:rPr sz="1400" b="1" dirty="0">
                <a:solidFill>
                  <a:srgbClr val="F0F6FF"/>
                </a:solidFill>
                <a:latin typeface="Aptos"/>
              </a:rPr>
              <a:t>
JSON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026664"/>
            <a:ext cx="0" cy="246888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3337560"/>
            <a:ext cx="5669280" cy="530352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3410712"/>
            <a:ext cx="512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F0F6FF"/>
                </a:solidFill>
                <a:latin typeface="Aptos"/>
              </a:rPr>
              <a:t>Google Sheets
Issue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895344"/>
            <a:ext cx="0" cy="246888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46120" y="4206240"/>
            <a:ext cx="5669280" cy="530352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4279392"/>
            <a:ext cx="512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F0F6FF"/>
                </a:solidFill>
                <a:latin typeface="Aptos"/>
              </a:rPr>
              <a:t>n8n IF Logic
Severity Split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764024"/>
            <a:ext cx="0" cy="246888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5074920"/>
            <a:ext cx="5669280" cy="530352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5148072"/>
            <a:ext cx="512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F0F6FF"/>
                </a:solidFill>
                <a:latin typeface="Aptos"/>
              </a:rPr>
              <a:t>Email / Telegram
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AI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9EAEC5"/>
                </a:solidFill>
                <a:latin typeface="Aptos"/>
              </a:rPr>
              <a:t>LLM extraction handles real-world message variability better than rules</a:t>
            </a:r>
            <a:r>
              <a:rPr sz="1150" b="0" dirty="0">
                <a:solidFill>
                  <a:srgbClr val="9EAEC5"/>
                </a:solidFill>
                <a:latin typeface="Aptos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OpenAI LLM extracts structured JSON from unstructured Telegram messages</a:t>
            </a:r>
          </a:p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Prompt engineered for consistent fields: OUTLET, LOCATION, ISSUE, COMPETITOR, SEVERITY</a:t>
            </a:r>
          </a:p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LLM selected over rule-based parsing to handle flexible sales language</a:t>
            </a:r>
          </a:p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Structured output makes downstream n8n automation reliable and repeatable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91640"/>
            <a:ext cx="4114800" cy="292608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2011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 smtClean="0">
                <a:solidFill>
                  <a:srgbClr val="34D399"/>
                </a:solidFill>
                <a:latin typeface="Aptos Display"/>
              </a:rPr>
              <a:t>JSON</a:t>
            </a:r>
            <a:endParaRPr sz="1800" b="1" dirty="0">
              <a:solidFill>
                <a:srgbClr val="34D399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69480" y="2514600"/>
            <a:ext cx="3337560" cy="207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dirty="0">
                <a:solidFill>
                  <a:srgbClr val="F0F6FF"/>
                </a:solidFill>
                <a:latin typeface="Cascadia Mono"/>
              </a:rPr>
              <a:t>{</a:t>
            </a:r>
          </a:p>
          <a:p>
            <a:r>
              <a:rPr lang="en-US" sz="1500" dirty="0">
                <a:solidFill>
                  <a:srgbClr val="F0F6FF"/>
                </a:solidFill>
                <a:latin typeface="Cascadia Mono"/>
              </a:rPr>
              <a:t>  "OUTLET": "...",</a:t>
            </a:r>
          </a:p>
          <a:p>
            <a:r>
              <a:rPr lang="en-US" sz="1500" dirty="0">
                <a:solidFill>
                  <a:srgbClr val="F0F6FF"/>
                </a:solidFill>
                <a:latin typeface="Cascadia Mono"/>
              </a:rPr>
              <a:t>  "LOCATION": "...",</a:t>
            </a:r>
          </a:p>
          <a:p>
            <a:r>
              <a:rPr lang="en-US" sz="1500" dirty="0">
                <a:solidFill>
                  <a:srgbClr val="F0F6FF"/>
                </a:solidFill>
                <a:latin typeface="Cascadia Mono"/>
              </a:rPr>
              <a:t>  "ISSUE": "...",</a:t>
            </a:r>
          </a:p>
          <a:p>
            <a:r>
              <a:rPr lang="en-US" sz="1500" dirty="0">
                <a:solidFill>
                  <a:srgbClr val="F0F6FF"/>
                </a:solidFill>
                <a:latin typeface="Cascadia Mono"/>
              </a:rPr>
              <a:t>  "COMPETITOR": "...",</a:t>
            </a:r>
          </a:p>
          <a:p>
            <a:r>
              <a:rPr lang="en-US" sz="1500" dirty="0">
                <a:solidFill>
                  <a:srgbClr val="F0F6FF"/>
                </a:solidFill>
                <a:latin typeface="Cascadia Mono"/>
              </a:rPr>
              <a:t>  "SEVERITY": "HIGH | MEDIUM | LOW"</a:t>
            </a:r>
          </a:p>
          <a:p>
            <a:r>
              <a:rPr lang="en-US" sz="1500" dirty="0">
                <a:solidFill>
                  <a:srgbClr val="F0F6FF"/>
                </a:solidFill>
                <a:latin typeface="Cascadia Mono"/>
              </a:rPr>
              <a:t>}</a:t>
            </a:r>
            <a:r>
              <a:rPr sz="1500" b="0" dirty="0">
                <a:solidFill>
                  <a:srgbClr val="F0F6FF"/>
                </a:solidFill>
                <a:latin typeface="Cascadia Mono"/>
              </a:rPr>
              <a:t>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Data Extracted by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9EAEC5"/>
                </a:solidFill>
                <a:latin typeface="Aptos"/>
              </a:rPr>
              <a:t>Raw field text becomes a clean operational record.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4892040" cy="324612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2743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22D3EE"/>
                </a:solidFill>
                <a:latin typeface="Aptos Display"/>
              </a:rPr>
              <a:t>Raw Telegram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4160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F0F6FF"/>
                </a:solidFill>
                <a:latin typeface="Aptos Display"/>
              </a:rPr>
              <a:t>"Outlet A in Pune has low stock. Competitor discount active nearby. Urgent follow-up needed."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33872" y="3291840"/>
            <a:ext cx="566928" cy="0"/>
          </a:xfrm>
          <a:prstGeom prst="line">
            <a:avLst/>
          </a:prstGeom>
          <a:ln w="25400">
            <a:solidFill>
              <a:srgbClr val="405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65392" y="1691640"/>
            <a:ext cx="4800600" cy="324612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6288" y="1993392"/>
            <a:ext cx="2743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34D399"/>
                </a:solidFill>
                <a:latin typeface="Aptos Display"/>
              </a:rPr>
              <a:t>Structured JSON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450592"/>
            <a:ext cx="36118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0F6FF"/>
                </a:solidFill>
                <a:latin typeface="Cascadia Mono"/>
              </a:rPr>
              <a:t>{
  "outlet": "Outlet A",
  "location": "Pune",
  "issue": "Low stock",
  "competitor": "Discount active nearby",
  "severity": "HIGH"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9EAEC5"/>
                </a:solidFill>
                <a:latin typeface="Aptos"/>
              </a:rPr>
              <a:t>A real-time AI decision pipeline from message to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64592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43891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709928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6FF"/>
                </a:solidFill>
                <a:latin typeface="Aptos Display"/>
              </a:rPr>
              <a:t>Sales agent sends issue via Telegram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359152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3891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23160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6FF"/>
                </a:solidFill>
                <a:latin typeface="Aptos Display"/>
              </a:rPr>
              <a:t>OpenAI extracts structured JSON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072384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43891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136392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6FF"/>
                </a:solidFill>
                <a:latin typeface="Aptos Display"/>
              </a:rPr>
              <a:t>Google Sheets logs the issue record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785615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895344"/>
            <a:ext cx="43891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849624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6FF"/>
                </a:solidFill>
                <a:latin typeface="Aptos Display"/>
              </a:rPr>
              <a:t>n8n IF logic classifies severity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98848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608576"/>
            <a:ext cx="43891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56285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0F6FF"/>
                </a:solidFill>
                <a:latin typeface="Aptos Display"/>
              </a:rPr>
              <a:t>System triggers the correct alert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74519"/>
            <a:ext cx="2971800" cy="237744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2176272"/>
            <a:ext cx="2194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 Display"/>
              </a:rPr>
              <a:t>Routing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569102"/>
            <a:ext cx="2240280" cy="165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rPr sz="1600" b="1" dirty="0"/>
              <a:t>HIGH ? Email alert to management</a:t>
            </a:r>
          </a:p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rPr sz="1600" b="1" dirty="0"/>
              <a:t>MEDIUM ? Telegram review response</a:t>
            </a:r>
          </a:p>
          <a:p>
            <a:pPr>
              <a:spcAft>
                <a:spcPts val="700"/>
              </a:spcAft>
              <a:defRPr sz="1300">
                <a:solidFill>
                  <a:srgbClr val="9EAEC5"/>
                </a:solidFill>
                <a:latin typeface="Aptos"/>
              </a:defRPr>
            </a:pPr>
            <a:r>
              <a:rPr sz="1600" b="1" dirty="0"/>
              <a:t>LOW ? Telegram acknowledgement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9EAEC5"/>
                </a:solidFill>
                <a:latin typeface="Aptos"/>
              </a:rPr>
              <a:t>Follow one issue through the implemented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4768" y="2335794"/>
            <a:ext cx="88814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Sales agent reports issue via Telegram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AI extracts structured fields instantly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System logs data into centralized sheet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Decision engine evaluates severity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Alerts triggered automatically (Email/Telegram)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Alert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9EAEC5"/>
                </a:solidFill>
                <a:latin typeface="Aptos"/>
              </a:rPr>
              <a:t>Severity-based routing keeps escalation consistent.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3063240" cy="25146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2148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ptos Display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743200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 Display"/>
              </a:rPr>
              <a:t>Critical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3127248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9EAEC5"/>
                </a:solidFill>
                <a:latin typeface="Aptos"/>
              </a:rPr>
              <a:t>Immediate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703320"/>
            <a:ext cx="2423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smtClean="0">
                <a:solidFill>
                  <a:srgbClr val="F87171"/>
                </a:solidFill>
                <a:latin typeface="Aptos"/>
              </a:rPr>
              <a:t> </a:t>
            </a:r>
            <a:r>
              <a:rPr sz="1600" b="1" dirty="0">
                <a:solidFill>
                  <a:srgbClr val="F87171"/>
                </a:solidFill>
                <a:latin typeface="Aptos"/>
              </a:rPr>
              <a:t>Gmail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063240" cy="25146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2148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Aptos Display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 Display"/>
              </a:rPr>
              <a:t>Important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127248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9EAEC5"/>
                </a:solidFill>
                <a:latin typeface="Aptos"/>
              </a:rPr>
              <a:t>Requires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24231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smtClean="0">
                <a:solidFill>
                  <a:srgbClr val="FBBF24"/>
                </a:solidFill>
                <a:latin typeface="Aptos"/>
              </a:rPr>
              <a:t>Telegram </a:t>
            </a:r>
            <a:r>
              <a:rPr sz="1600" b="1" dirty="0" smtClean="0">
                <a:solidFill>
                  <a:srgbClr val="FBBF24"/>
                </a:solidFill>
                <a:latin typeface="Aptos"/>
              </a:rPr>
              <a:t>review </a:t>
            </a:r>
            <a:r>
              <a:rPr lang="en-IN" sz="1600" b="1" dirty="0" smtClean="0">
                <a:solidFill>
                  <a:srgbClr val="FBBF24"/>
                </a:solidFill>
                <a:latin typeface="Aptos"/>
              </a:rPr>
              <a:t> </a:t>
            </a:r>
            <a:r>
              <a:rPr sz="1600" b="1" dirty="0" smtClean="0">
                <a:solidFill>
                  <a:srgbClr val="FBBF24"/>
                </a:solidFill>
                <a:latin typeface="Aptos"/>
              </a:rPr>
              <a:t>response</a:t>
            </a:r>
            <a:endParaRPr sz="1600" b="1" dirty="0">
              <a:solidFill>
                <a:srgbClr val="FBBF24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75319" y="1828800"/>
            <a:ext cx="3063240" cy="25146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7928" y="2148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34D399"/>
                </a:solidFill>
                <a:latin typeface="Aptos Display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743200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 Display"/>
              </a:rPr>
              <a:t>Routine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127248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9EAEC5"/>
                </a:solidFill>
                <a:latin typeface="Aptos"/>
              </a:rPr>
              <a:t>Logged successfully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3703320"/>
            <a:ext cx="24231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smtClean="0">
                <a:solidFill>
                  <a:srgbClr val="34D399"/>
                </a:solidFill>
                <a:latin typeface="Aptos"/>
              </a:rPr>
              <a:t>Acknowledgement </a:t>
            </a:r>
            <a:r>
              <a:rPr lang="en-IN" sz="1600" b="1" dirty="0" smtClean="0">
                <a:solidFill>
                  <a:srgbClr val="34D399"/>
                </a:solidFill>
                <a:latin typeface="Aptos"/>
              </a:rPr>
              <a:t> </a:t>
            </a:r>
            <a:r>
              <a:rPr sz="1600" b="1" dirty="0" smtClean="0">
                <a:solidFill>
                  <a:srgbClr val="34D399"/>
                </a:solidFill>
                <a:latin typeface="Aptos"/>
              </a:rPr>
              <a:t>response</a:t>
            </a:r>
            <a:endParaRPr sz="1600" b="1" dirty="0">
              <a:solidFill>
                <a:srgbClr val="34D39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0600" y="507492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 Display"/>
              </a:rPr>
              <a:t>n8n IF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 Display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9509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9EAEC5"/>
                </a:solidFill>
                <a:latin typeface="Aptos"/>
              </a:rPr>
              <a:t>Unstructured field messages become </a:t>
            </a:r>
            <a:r>
              <a:rPr sz="1600" b="1" dirty="0" err="1">
                <a:solidFill>
                  <a:srgbClr val="9EAEC5"/>
                </a:solidFill>
                <a:latin typeface="Aptos"/>
              </a:rPr>
              <a:t>trackable</a:t>
            </a:r>
            <a:r>
              <a:rPr sz="1600" b="1" dirty="0">
                <a:solidFill>
                  <a:srgbClr val="9EAEC5"/>
                </a:solidFill>
                <a:latin typeface="Aptos"/>
              </a:rPr>
              <a:t>, routed operational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97180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901952"/>
            <a:ext cx="393192" cy="3931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9796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920240"/>
            <a:ext cx="2148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"/>
              </a:rPr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267712"/>
            <a:ext cx="2148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Less manual tracking and repeated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297180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53712" y="1901952"/>
            <a:ext cx="393192" cy="3931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99796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920240"/>
            <a:ext cx="2148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"/>
              </a:rPr>
              <a:t>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267712"/>
            <a:ext cx="2148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Urgent issues move directly into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297180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11312" y="1901952"/>
            <a:ext cx="393192" cy="3931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99796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1920240"/>
            <a:ext cx="2148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"/>
              </a:rP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267712"/>
            <a:ext cx="2148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Teams focus on follow-up instead of parsing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297180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" y="3410712"/>
            <a:ext cx="393192" cy="3931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50672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429000"/>
            <a:ext cx="2148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"/>
              </a:rPr>
              <a:t>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776472"/>
            <a:ext cx="2148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Google Sheets creates a shared issue 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246120"/>
            <a:ext cx="2971800" cy="11430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40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53712" y="3410712"/>
            <a:ext cx="393192" cy="3931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506724"/>
            <a:ext cx="39319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0B1020"/>
                </a:solidFill>
                <a:latin typeface="Aptos"/>
              </a:rPr>
              <a:t>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429000"/>
            <a:ext cx="2148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F0F6FF"/>
                </a:solidFill>
                <a:latin typeface="Aptos"/>
              </a:rPr>
              <a:t>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776472"/>
            <a:ext cx="2148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EAEC5"/>
                </a:solidFill>
                <a:latin typeface="Aptos"/>
              </a:rPr>
              <a:t>Severity rules apply the same way every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93792"/>
            <a:ext cx="9784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0F6FF"/>
                </a:solidFill>
                <a:latin typeface="Aptos Display"/>
              </a:rPr>
              <a:t>Outcome: faster escalation, cleaner records, and clearer operational visibility across retail issue handling.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32764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EAEC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80467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200" b="1" i="1" dirty="0">
                <a:solidFill>
                  <a:schemeClr val="bg1"/>
                </a:solidFill>
              </a:rPr>
              <a:t>Future Enhancements</a:t>
            </a:r>
            <a:endParaRPr sz="3200" b="1" i="1" dirty="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058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01400" y="6327648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IN" sz="800" b="0" dirty="0" smtClean="0">
                <a:solidFill>
                  <a:srgbClr val="9EAEC5"/>
                </a:solidFill>
                <a:latin typeface="Aptos"/>
              </a:rPr>
              <a:t>14</a:t>
            </a:r>
            <a:endParaRPr sz="800" b="0" dirty="0">
              <a:solidFill>
                <a:srgbClr val="9EAEC5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821663" y="2027027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800" b="1" dirty="0">
              <a:solidFill>
                <a:schemeClr val="bg1"/>
              </a:solidFill>
            </a:endParaRPr>
          </a:p>
          <a:p>
            <a:r>
              <a:rPr lang="en-IN" sz="2800" b="1" dirty="0">
                <a:solidFill>
                  <a:schemeClr val="bg1"/>
                </a:solidFill>
              </a:rPr>
              <a:t>• Dashboard visualization (Power BI / </a:t>
            </a:r>
            <a:r>
              <a:rPr lang="en-IN" sz="2800" b="1" dirty="0" err="1">
                <a:solidFill>
                  <a:schemeClr val="bg1"/>
                </a:solidFill>
              </a:rPr>
              <a:t>Streamlit</a:t>
            </a:r>
            <a:r>
              <a:rPr lang="en-IN" sz="2800" b="1" dirty="0">
                <a:solidFill>
                  <a:schemeClr val="bg1"/>
                </a:solidFill>
              </a:rPr>
              <a:t>)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• CRM integration (</a:t>
            </a:r>
            <a:r>
              <a:rPr lang="en-IN" sz="2800" b="1" dirty="0" err="1">
                <a:solidFill>
                  <a:schemeClr val="bg1"/>
                </a:solidFill>
              </a:rPr>
              <a:t>Salesforce</a:t>
            </a:r>
            <a:r>
              <a:rPr lang="en-IN" sz="2800" b="1" dirty="0">
                <a:solidFill>
                  <a:schemeClr val="bg1"/>
                </a:solidFill>
              </a:rPr>
              <a:t> / </a:t>
            </a:r>
            <a:r>
              <a:rPr lang="en-IN" sz="2800" b="1" dirty="0" err="1">
                <a:solidFill>
                  <a:schemeClr val="bg1"/>
                </a:solidFill>
              </a:rPr>
              <a:t>HubSpot</a:t>
            </a:r>
            <a:r>
              <a:rPr lang="en-IN" sz="2800" b="1" dirty="0">
                <a:solidFill>
                  <a:schemeClr val="bg1"/>
                </a:solidFill>
              </a:rPr>
              <a:t>)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• Predictive issue detection using historical trends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• Multi-language input handling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• Mobile interface for field agents</a:t>
            </a:r>
          </a:p>
        </p:txBody>
      </p:sp>
    </p:spTree>
    <p:extLst>
      <p:ext uri="{BB962C8B-B14F-4D97-AF65-F5344CB8AC3E}">
        <p14:creationId xmlns:p14="http://schemas.microsoft.com/office/powerpoint/2010/main" val="1044745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5852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0F6FF"/>
                </a:solidFill>
                <a:latin typeface="Aptos Display"/>
              </a:rPr>
              <a:t>Built a Real AI
Automation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2057400"/>
            <a:ext cx="58521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9EAEC5"/>
                </a:solidFill>
                <a:latin typeface="Aptos"/>
              </a:rPr>
              <a:t>A complete workflow integrating LLM extraction, API orchestration, structured storage, decision logic, and alert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99232"/>
            <a:ext cx="54864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0F6FF"/>
                </a:solidFill>
                <a:latin typeface="Aptos"/>
              </a:defRPr>
            </a:pPr>
            <a:r>
              <a:t>Designed and implemented an end-to-end AI workflow</a:t>
            </a:r>
          </a:p>
          <a:p>
            <a:pPr>
              <a:spcAft>
                <a:spcPts val="700"/>
              </a:spcAft>
              <a:defRPr sz="1400">
                <a:solidFill>
                  <a:srgbClr val="F0F6FF"/>
                </a:solidFill>
                <a:latin typeface="Aptos"/>
              </a:defRPr>
            </a:pPr>
            <a:r>
              <a:t>Integrated OpenAI, Telegram, Google Sheets, Gmail, and n8n</a:t>
            </a:r>
          </a:p>
          <a:p>
            <a:pPr>
              <a:spcAft>
                <a:spcPts val="700"/>
              </a:spcAft>
              <a:defRPr sz="1400">
                <a:solidFill>
                  <a:srgbClr val="F0F6FF"/>
                </a:solidFill>
                <a:latin typeface="Aptos"/>
              </a:defRPr>
            </a:pPr>
            <a:r>
              <a:t>Converted unstructured text into structured operational data</a:t>
            </a:r>
          </a:p>
          <a:p>
            <a:pPr>
              <a:spcAft>
                <a:spcPts val="700"/>
              </a:spcAft>
              <a:defRPr sz="1400">
                <a:solidFill>
                  <a:srgbClr val="F0F6FF"/>
                </a:solidFill>
                <a:latin typeface="Aptos"/>
              </a:defRPr>
            </a:pPr>
            <a:r>
              <a:t>Built severity-based routing for real-time alerting</a:t>
            </a:r>
          </a:p>
          <a:p>
            <a:pPr>
              <a:spcAft>
                <a:spcPts val="700"/>
              </a:spcAft>
              <a:defRPr sz="1400">
                <a:solidFill>
                  <a:srgbClr val="F0F6FF"/>
                </a:solidFill>
                <a:latin typeface="Aptos"/>
              </a:defRPr>
            </a:pPr>
            <a:r>
              <a:t>Demonstrates AI system design, automation, and API integration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143000"/>
            <a:ext cx="3291840" cy="4343400"/>
          </a:xfrm>
          <a:prstGeom prst="roundRect">
            <a:avLst/>
          </a:prstGeom>
          <a:solidFill>
            <a:srgbClr val="121A2E"/>
          </a:solidFill>
          <a:ln w="889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36992" y="16002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ptos Display"/>
              </a:rPr>
              <a:t>Skills Demonstrated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23317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AI extraction</a:t>
            </a:r>
          </a:p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Workflow automation</a:t>
            </a:r>
          </a:p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API integration</a:t>
            </a:r>
          </a:p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System design</a:t>
            </a:r>
          </a:p>
          <a:p>
            <a:pPr>
              <a:spcAft>
                <a:spcPts val="700"/>
              </a:spcAft>
              <a:defRPr sz="1600">
                <a:solidFill>
                  <a:srgbClr val="F0F6FF"/>
                </a:solidFill>
                <a:latin typeface="Aptos"/>
              </a:defRPr>
            </a:pPr>
            <a:r>
              <a:t>Alert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27648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IN" sz="800" b="0" dirty="0" smtClean="0">
                <a:solidFill>
                  <a:srgbClr val="9EAEC5"/>
                </a:solidFill>
                <a:latin typeface="Aptos"/>
              </a:rPr>
              <a:t>15</a:t>
            </a:r>
            <a:endParaRPr sz="800" b="0" dirty="0">
              <a:solidFill>
                <a:srgbClr val="9EAEC5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879</Words>
  <Application>Microsoft Office PowerPoint</Application>
  <PresentationFormat>Custom</PresentationFormat>
  <Paragraphs>221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18</cp:revision>
  <dcterms:created xsi:type="dcterms:W3CDTF">2013-01-27T09:14:16Z</dcterms:created>
  <dcterms:modified xsi:type="dcterms:W3CDTF">2026-05-04T20:52:08Z</dcterms:modified>
  <cp:category/>
</cp:coreProperties>
</file>